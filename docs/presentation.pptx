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5815584" y="1554480"/>
            <a:ext cx="566928" cy="566928"/>
          </a:xfrm>
          <a:prstGeom prst="roundRect">
            <a:avLst>
              <a:gd name="adj" fmla="val 19355"/>
            </a:avLst>
          </a:prstGeom>
          <a:solidFill>
            <a:srgbClr val="FFFFFF"/>
          </a:solidFill>
          <a:ln/>
        </p:spPr>
      </p:sp>
      <p:sp>
        <p:nvSpPr>
          <p:cNvPr id="3" name="Shape 1"/>
          <p:cNvSpPr/>
          <p:nvPr/>
        </p:nvSpPr>
        <p:spPr>
          <a:xfrm>
            <a:off x="5989320" y="1728216"/>
            <a:ext cx="219456" cy="219456"/>
          </a:xfrm>
          <a:prstGeom prst="ellipse">
            <a:avLst/>
          </a:prstGeom>
          <a:solidFill>
            <a:srgbClr val="0A0A0B"/>
          </a:solidFill>
          <a:ln/>
        </p:spPr>
      </p:sp>
      <p:sp>
        <p:nvSpPr>
          <p:cNvPr id="4" name="Text 2"/>
          <p:cNvSpPr/>
          <p:nvPr/>
        </p:nvSpPr>
        <p:spPr>
          <a:xfrm>
            <a:off x="457200" y="2286000"/>
            <a:ext cx="11277295" cy="1737360"/>
          </a:xfrm>
          <a:prstGeom prst="rect">
            <a:avLst/>
          </a:prstGeom>
          <a:noFill/>
          <a:ln/>
        </p:spPr>
        <p:txBody>
          <a:bodyPr wrap="square" rtlCol="0" anchor="ctr"/>
          <a:lstStyle/>
          <a:p>
            <a:pPr algn="ctr" indent="0" marL="0">
              <a:lnSpc>
                <a:spcPct val="102000"/>
              </a:lnSpc>
              <a:buNone/>
            </a:pPr>
            <a:r>
              <a:rPr lang="en-US" sz="4800" b="1" dirty="0">
                <a:solidFill>
                  <a:srgbClr val="FAFAFA"/>
                </a:solidFill>
                <a:latin typeface="Segoe UI" pitchFamily="34" charset="0"/>
                <a:ea typeface="Segoe UI" pitchFamily="34" charset="-122"/>
                <a:cs typeface="Segoe UI" pitchFamily="34" charset="-120"/>
              </a:rPr>
              <a:t>Distributed RAG-Based</a:t>
            </a:r>
            <a:endParaRPr lang="en-US" sz="4800" dirty="0"/>
          </a:p>
          <a:p>
            <a:pPr algn="ctr" indent="0" marL="0">
              <a:lnSpc>
                <a:spcPct val="102000"/>
              </a:lnSpc>
              <a:buNone/>
            </a:pPr>
            <a:r>
              <a:rPr lang="en-US" sz="4800" b="1" dirty="0">
                <a:solidFill>
                  <a:srgbClr val="FAFAFA"/>
                </a:solidFill>
                <a:latin typeface="Segoe UI" pitchFamily="34" charset="0"/>
                <a:ea typeface="Segoe UI" pitchFamily="34" charset="-122"/>
                <a:cs typeface="Segoe UI" pitchFamily="34" charset="-120"/>
              </a:rPr>
              <a:t>Web Scraper</a:t>
            </a:r>
            <a:endParaRPr lang="en-US" sz="4800" dirty="0"/>
          </a:p>
        </p:txBody>
      </p:sp>
      <p:sp>
        <p:nvSpPr>
          <p:cNvPr id="5" name="Text 3"/>
          <p:cNvSpPr/>
          <p:nvPr/>
        </p:nvSpPr>
        <p:spPr>
          <a:xfrm>
            <a:off x="2011680" y="4114800"/>
            <a:ext cx="8168335" cy="914400"/>
          </a:xfrm>
          <a:prstGeom prst="rect">
            <a:avLst/>
          </a:prstGeom>
          <a:noFill/>
          <a:ln/>
        </p:spPr>
        <p:txBody>
          <a:bodyPr wrap="square" rtlCol="0" anchor="ctr"/>
          <a:lstStyle/>
          <a:p>
            <a:pPr algn="ctr" indent="0" marL="0">
              <a:lnSpc>
                <a:spcPct val="130000"/>
              </a:lnSpc>
              <a:buNone/>
            </a:pPr>
            <a:r>
              <a:rPr lang="en-US" sz="1500" dirty="0">
                <a:solidFill>
                  <a:srgbClr val="A1A1AA"/>
                </a:solidFill>
                <a:latin typeface="Segoe UI" pitchFamily="34" charset="0"/>
                <a:ea typeface="Segoe UI" pitchFamily="34" charset="-122"/>
                <a:cs typeface="Segoe UI" pitchFamily="34" charset="-120"/>
              </a:rPr>
              <a:t>Fault-tolerant distributed crawling · content versioning · pgvector semantic search · RAG question answering with citations</a:t>
            </a:r>
            <a:endParaRPr lang="en-US" sz="1500" dirty="0"/>
          </a:p>
        </p:txBody>
      </p:sp>
      <p:sp>
        <p:nvSpPr>
          <p:cNvPr id="6" name="Text 4"/>
          <p:cNvSpPr/>
          <p:nvPr/>
        </p:nvSpPr>
        <p:spPr>
          <a:xfrm>
            <a:off x="457200" y="5212080"/>
            <a:ext cx="11277295" cy="365760"/>
          </a:xfrm>
          <a:prstGeom prst="rect">
            <a:avLst/>
          </a:prstGeom>
          <a:noFill/>
          <a:ln/>
        </p:spPr>
        <p:txBody>
          <a:bodyPr wrap="square" rtlCol="0" anchor="ctr"/>
          <a:lstStyle/>
          <a:p>
            <a:pPr algn="ctr" indent="0" marL="0">
              <a:buNone/>
            </a:pPr>
            <a:r>
              <a:rPr lang="en-US" sz="1100" spc="200" kern="0" dirty="0">
                <a:solidFill>
                  <a:srgbClr val="71717A"/>
                </a:solidFill>
                <a:latin typeface="Segoe UI" pitchFamily="34" charset="0"/>
                <a:ea typeface="Segoe UI" pitchFamily="34" charset="-122"/>
                <a:cs typeface="Segoe UI" pitchFamily="34" charset="-120"/>
              </a:rPr>
              <a:t>UNIVERSITY FINAL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OVERVIEW</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What it does</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Crawls multiple sites — static, JS-rendered, and a 500+ page catalog — using many independent worker containers coordinated through a shared job queue.</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Cleans HTML to Markdown and versions every change — nothing is ever overwritten.</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Chunks, embeds, and indexes content into pgvector for semantic search.</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Serves keyword, semantic, and hybrid search over the crawled corpus.</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Answers questions with a RAG pipeline that streams an answer and cites every claim.</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Demonstrates horizontal scaling and graceful recovery from worker failure.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2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ARCHITECTURE</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Two decoupled halves, one database</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INGESTION — the slow, distributed, fault-tolerant path: crawl → clean → version → chunk → embed → index.</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SERVING — the fast, read-mostly path: keyword / semantic / hybrid search, and RAG question answering.</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The two never talk directly; they meet in Postgres. Crawling and searching run concurrently — freshly crawled pages appear in results as they finish indexing.</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Coordination (queues + per-crawl counters) lives entirely in Redis, so workers share nothing and scale horizontally.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3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ARCHITECTURE</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The services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10545775" cy="914400"/>
        </p:xfrm>
        <a:graphic>
          <a:graphicData uri="http://schemas.openxmlformats.org/drawingml/2006/table">
            <a:tbl>
              <a:tblPr/>
              <a:tblGrid>
                <a:gridCol w="5272888"/>
                <a:gridCol w="5272888"/>
              </a:tblGrid>
              <a:tr h="457200">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SERVICE</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ROLE</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api (Fastify)</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HTTP: search, streaming ask, admin; enqueues crawls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worker × N (BullMQ)</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Runs scrape / discover / index jobs — horizontally scalable</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web (Next.js 15)</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Public search + ask UI, and the operator admin panel</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scheduler</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Sweeps every 5 min to rescue stuck crawl runs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Postgres + pgvector</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Sources, pages, versions, chunks, and embedding vectors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Redis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Job queues + per-crawl coordination counters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4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TECH STACK</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Locked choices &amp; why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10545775" cy="914400"/>
        </p:xfrm>
        <a:graphic>
          <a:graphicData uri="http://schemas.openxmlformats.org/drawingml/2006/table">
            <a:tbl>
              <a:tblPr/>
              <a:tblGrid>
                <a:gridCol w="3515258"/>
                <a:gridCol w="3515258"/>
                <a:gridCol w="3515258"/>
              </a:tblGrid>
              <a:tr h="457200">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CONCERN</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CHOICE</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WHY</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Queue</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BullMQ on Redis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Built-in retries, backoff, rate limiting, DLQ</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Scraper</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Crawlee (Cheerio + Playwright)</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One API for static + JS pages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DB / vectors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Postgres 16 + pgvector</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One store, HNSW index, no extra service</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Embeddings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OpenAI text-embedding-3-small</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Cheap, strong, 1536-dim</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LLM</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OpenAI GPT-5.5</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Good citation adherence; one provider</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API / UI</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Fastify · Next.js 15 · Tailwind</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TS-native, SSR + streaming</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5 / 17</a:t>
            </a:r>
            <a:endParaRPr lang="en-US" sz="900" dirty="0"/>
          </a:p>
        </p:txBody>
      </p:sp>
      <p:sp>
        <p:nvSpPr>
          <p:cNvPr id="4" name="Text 2"/>
          <p:cNvSpPr/>
          <p:nvPr/>
        </p:nvSpPr>
        <p:spPr>
          <a:xfrm>
            <a:off x="822960" y="1005840"/>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KEY DESIGN DECISION</a:t>
            </a:r>
            <a:endParaRPr lang="en-US" sz="1200" dirty="0"/>
          </a:p>
        </p:txBody>
      </p:sp>
      <p:sp>
        <p:nvSpPr>
          <p:cNvPr id="5" name="Text 3"/>
          <p:cNvSpPr/>
          <p:nvPr/>
        </p:nvSpPr>
        <p:spPr>
          <a:xfrm>
            <a:off x="822960" y="1828800"/>
            <a:ext cx="10545775" cy="1737360"/>
          </a:xfrm>
          <a:prstGeom prst="rect">
            <a:avLst/>
          </a:prstGeom>
          <a:noFill/>
          <a:ln/>
        </p:spPr>
        <p:txBody>
          <a:bodyPr wrap="square" rtlCol="0" anchor="ctr"/>
          <a:lstStyle/>
          <a:p>
            <a:pPr indent="0" marL="0">
              <a:lnSpc>
                <a:spcPct val="105000"/>
              </a:lnSpc>
              <a:buNone/>
            </a:pPr>
            <a:r>
              <a:rPr lang="en-US" sz="4000" b="1" dirty="0">
                <a:solidFill>
                  <a:srgbClr val="FAFAFA"/>
                </a:solidFill>
                <a:latin typeface="Segoe UI" pitchFamily="34" charset="0"/>
                <a:ea typeface="Segoe UI" pitchFamily="34" charset="-122"/>
                <a:cs typeface="Segoe UI" pitchFamily="34" charset="-120"/>
              </a:rPr>
              <a:t>BullMQ owns coordination.</a:t>
            </a:r>
            <a:endParaRPr lang="en-US" sz="4000" dirty="0"/>
          </a:p>
          <a:p>
            <a:pPr indent="0" marL="0">
              <a:lnSpc>
                <a:spcPct val="105000"/>
              </a:lnSpc>
              <a:buNone/>
            </a:pPr>
            <a:r>
              <a:rPr lang="en-US" sz="4000" b="1" dirty="0">
                <a:solidFill>
                  <a:srgbClr val="FAFAFA"/>
                </a:solidFill>
                <a:latin typeface="Segoe UI" pitchFamily="34" charset="0"/>
                <a:ea typeface="Segoe UI" pitchFamily="34" charset="-122"/>
                <a:cs typeface="Segoe UI" pitchFamily="34" charset="-120"/>
              </a:rPr>
              <a:t>Crawlee is just the fetcher.</a:t>
            </a:r>
            <a:endParaRPr lang="en-US" sz="4000" dirty="0"/>
          </a:p>
        </p:txBody>
      </p:sp>
      <p:sp>
        <p:nvSpPr>
          <p:cNvPr id="6" name="Text 4"/>
          <p:cNvSpPr/>
          <p:nvPr/>
        </p:nvSpPr>
        <p:spPr>
          <a:xfrm>
            <a:off x="822960" y="3840480"/>
            <a:ext cx="10241280" cy="1828800"/>
          </a:xfrm>
          <a:prstGeom prst="rect">
            <a:avLst/>
          </a:prstGeom>
          <a:noFill/>
          <a:ln/>
        </p:spPr>
        <p:txBody>
          <a:bodyPr wrap="square" rtlCol="0" anchor="ctr"/>
          <a:lstStyle/>
          <a:p>
            <a:pPr indent="0" marL="0">
              <a:lnSpc>
                <a:spcPct val="140000"/>
              </a:lnSpc>
              <a:buNone/>
            </a:pPr>
            <a:r>
              <a:rPr lang="en-US" sz="1500" dirty="0">
                <a:solidFill>
                  <a:srgbClr val="A1A1AA"/>
                </a:solidFill>
                <a:latin typeface="Segoe UI" pitchFamily="34" charset="0"/>
                <a:ea typeface="Segoe UI" pitchFamily="34" charset="-122"/>
                <a:cs typeface="Segoe UI" pitchFamily="34" charset="-120"/>
              </a:rPr>
              <a:t>Crawlee’s built-in RequestQueue is in-process — it cannot coordinate across containers. Using it as the coordinator would make horizontal scaling impossible. Instead, every discovered link is handed back to BullMQ, not Crawlee. That single decision is what makes the “distributed” story real.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6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INGESTION</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The crawl lifecycle</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Start crawl → API opens a tracked CrawlRun, reserves the seed URL, enqueues one scrape job.</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scrape — cancel check → robots.txt → per-domain rate limit (non-blocking defer) → fetch (Cheerio or Playwright).</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Clean to Markdown, hash it, compare to the latest version: unchanged → skip; changed/new → write a new PageVersion.</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Fan out: filtered links → a discover job; the saved version → an index job.</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discover reserves each genuinely-new link and enqueues its scrape job — the loop spreads across all workers.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7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INGESTION</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Processing &amp; versioning</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Readability strips boilerplate; Turndown converts to Markdown; tables are extracted separately as structured JSON.</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Content dedup by SHA-256 of the cleaned Markdown — an unchanged re-crawl costs nothing (no re-embed).</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Every change is a NEW version; history is never destroyed — this powers the admin diff viewer.</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URL dedup via a per-run “seen” set, so no page is crawled twice in one run.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8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INGESTION</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Indexing: text → searchable vectors</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Heading-aware chunking (~800 tokens, 150 overlap); tables become their own chunks with a caption.</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Chunks are embedded in batches via OpenAI text-embedding-3-small (1536-dim).</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Stored in Postgres via raw SQL with a pgvector column (HNSW, cosine) + a generated tsvector (GIN) for keyword search.</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Re-indexing a changed page deletes the old version’s chunks — only the latest version is searchable; old ones remain for history.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9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SERVING</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Retrieval: three modes</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keyword — Postgres full-text search over the tsvector column. Fast, exact-term.</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semantic — pgvector cosine similarity over the embedded query. Finds meaning, not words.</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hybrid (default) — Reciprocal Rank Fusion (k=60) of both lists, since a keyword score and a cosine distance aren’t on comparable scales.</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All three share one code path and an optional per-source filter.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10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SERVING</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RAG with citations</a:t>
            </a:r>
            <a:endParaRPr lang="en-US" sz="3000" dirty="0"/>
          </a:p>
        </p:txBody>
      </p:sp>
      <p:sp>
        <p:nvSpPr>
          <p:cNvPr id="6" name="Text 4"/>
          <p:cNvSpPr/>
          <p:nvPr/>
        </p:nvSpPr>
        <p:spPr>
          <a:xfrm>
            <a:off x="822960" y="2194560"/>
            <a:ext cx="5394960" cy="3657600"/>
          </a:xfrm>
          <a:prstGeom prst="rect">
            <a:avLst/>
          </a:prstGeom>
          <a:noFill/>
          <a:ln/>
        </p:spPr>
        <p:txBody>
          <a:bodyPr wrap="square" rtlCol="0" anchor="ctr"/>
          <a:lstStyle/>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Retrieve top chunks → build ONE citation-forcing prompt → stream GPT-5.5 over SSE.</a:t>
            </a:r>
            <a:endParaRPr lang="en-US" sz="1500" dirty="0"/>
          </a:p>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Every claim must cite [n]; the answer streams token-by-token with a live cursor.</a:t>
            </a:r>
            <a:endParaRPr lang="en-US" sz="1500" dirty="0"/>
          </a:p>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Each [n] is a clickable chip that jumps to the exact cited chunk on its source page.</a:t>
            </a:r>
            <a:endParaRPr lang="en-US" sz="1500" dirty="0"/>
          </a:p>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Guarantee: a citation can never point at a URL the model invented — the list is built from the actual retrieved chunks.</a:t>
            </a:r>
            <a:endParaRPr lang="en-US" sz="1500" dirty="0"/>
          </a:p>
        </p:txBody>
      </p:sp>
      <p:sp>
        <p:nvSpPr>
          <p:cNvPr id="7" name="Shape 5"/>
          <p:cNvSpPr/>
          <p:nvPr/>
        </p:nvSpPr>
        <p:spPr>
          <a:xfrm>
            <a:off x="6583680" y="1965960"/>
            <a:ext cx="4800600" cy="4206240"/>
          </a:xfrm>
          <a:prstGeom prst="roundRect">
            <a:avLst>
              <a:gd name="adj" fmla="val 1739"/>
            </a:avLst>
          </a:prstGeom>
          <a:solidFill>
            <a:srgbClr val="161618"/>
          </a:solidFill>
          <a:ln w="12700">
            <a:solidFill>
              <a:srgbClr val="27272A"/>
            </a:solidFill>
            <a:prstDash val="solid"/>
          </a:ln>
        </p:spPr>
      </p:sp>
      <p:pic>
        <p:nvPicPr>
          <p:cNvPr id="8" name="Image 0" descr="C:/Users/muham/AppData/Local/Temp/claude/c--onramp-scrap/78420e53-9e48-4fd5-8eb6-3c8ac837246f/scratchpad/shots/redesign-10-ask-done.png">    </p:cNvPr>
          <p:cNvPicPr>
            <a:picLocks noChangeAspect="1"/>
          </p:cNvPicPr>
          <p:nvPr/>
        </p:nvPicPr>
        <p:blipFill>
          <a:blip r:embed="rId1"/>
          <a:srcRect l="0" r="0" t="0" b="0"/>
          <a:stretch/>
        </p:blipFill>
        <p:spPr>
          <a:xfrm>
            <a:off x="6675120" y="2057400"/>
            <a:ext cx="4617720" cy="4023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11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PRODUCT</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The interface</a:t>
            </a:r>
            <a:endParaRPr lang="en-US" sz="3000" dirty="0"/>
          </a:p>
        </p:txBody>
      </p:sp>
      <p:sp>
        <p:nvSpPr>
          <p:cNvPr id="6" name="Text 4"/>
          <p:cNvSpPr/>
          <p:nvPr/>
        </p:nvSpPr>
        <p:spPr>
          <a:xfrm>
            <a:off x="822960" y="2194560"/>
            <a:ext cx="5394960" cy="3657600"/>
          </a:xfrm>
          <a:prstGeom prst="rect">
            <a:avLst/>
          </a:prstGeom>
          <a:noFill/>
          <a:ln/>
        </p:spPr>
        <p:txBody>
          <a:bodyPr wrap="square" rtlCol="0" anchor="ctr"/>
          <a:lstStyle/>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Public: a landing page with live source stats, a search page with mode + source filters, and the streaming ask page.</a:t>
            </a:r>
            <a:endParaRPr lang="en-US" sz="1500" dirty="0"/>
          </a:p>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Admin (token-gated): live queue dashboard, source management + start-crawl, dead-letter-queue retry, and a word-level version diff viewer.</a:t>
            </a:r>
            <a:endParaRPr lang="en-US" sz="1500" dirty="0"/>
          </a:p>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Next.js 15 App Router, SSR + streaming, a dark hand-built design system.</a:t>
            </a:r>
            <a:endParaRPr lang="en-US" sz="1500" dirty="0"/>
          </a:p>
        </p:txBody>
      </p:sp>
      <p:sp>
        <p:nvSpPr>
          <p:cNvPr id="7" name="Shape 5"/>
          <p:cNvSpPr/>
          <p:nvPr/>
        </p:nvSpPr>
        <p:spPr>
          <a:xfrm>
            <a:off x="6583680" y="1965960"/>
            <a:ext cx="4800600" cy="4206240"/>
          </a:xfrm>
          <a:prstGeom prst="roundRect">
            <a:avLst>
              <a:gd name="adj" fmla="val 1739"/>
            </a:avLst>
          </a:prstGeom>
          <a:solidFill>
            <a:srgbClr val="161618"/>
          </a:solidFill>
          <a:ln w="12700">
            <a:solidFill>
              <a:srgbClr val="27272A"/>
            </a:solidFill>
            <a:prstDash val="solid"/>
          </a:ln>
        </p:spPr>
      </p:sp>
      <p:pic>
        <p:nvPicPr>
          <p:cNvPr id="8" name="Image 0" descr="C:/Users/muham/AppData/Local/Temp/claude/c--onramp-scrap/78420e53-9e48-4fd5-8eb6-3c8ac837246f/scratchpad/shots/redesign-01-landing.png">    </p:cNvPr>
          <p:cNvPicPr>
            <a:picLocks noChangeAspect="1"/>
          </p:cNvPicPr>
          <p:nvPr/>
        </p:nvPicPr>
        <p:blipFill>
          <a:blip r:embed="rId1"/>
          <a:srcRect l="0" r="0" t="0" b="0"/>
          <a:stretch/>
        </p:blipFill>
        <p:spPr>
          <a:xfrm>
            <a:off x="6675120" y="2057400"/>
            <a:ext cx="4617720" cy="4023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12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OPERATIONS</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Operator dashboard</a:t>
            </a:r>
            <a:endParaRPr lang="en-US" sz="3000" dirty="0"/>
          </a:p>
        </p:txBody>
      </p:sp>
      <p:sp>
        <p:nvSpPr>
          <p:cNvPr id="6" name="Text 4"/>
          <p:cNvSpPr/>
          <p:nvPr/>
        </p:nvSpPr>
        <p:spPr>
          <a:xfrm>
            <a:off x="822960" y="2194560"/>
            <a:ext cx="5394960" cy="3657600"/>
          </a:xfrm>
          <a:prstGeom prst="rect">
            <a:avLst/>
          </a:prstGeom>
          <a:noFill/>
          <a:ln/>
        </p:spPr>
        <p:txBody>
          <a:bodyPr wrap="square" rtlCol="0" anchor="ctr"/>
          <a:lstStyle/>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Live queue counters (scrape / discover / index) poll every 2 seconds.</a:t>
            </a:r>
            <a:endParaRPr lang="en-US" sz="1500" dirty="0"/>
          </a:p>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Dead-letter queue: jobs that exhausted retries are visible and one-click retryable — nothing fails silently.</a:t>
            </a:r>
            <a:endParaRPr lang="en-US" sz="1500" dirty="0"/>
          </a:p>
          <a:p>
            <a:pPr marL="228600" indent="-228600">
              <a:lnSpc>
                <a:spcPct val="125000"/>
              </a:lnSpc>
              <a:spcAft>
                <a:spcPts val="1000"/>
              </a:spcAft>
              <a:buSzPct val="100000"/>
              <a:buChar char="•"/>
            </a:pPr>
            <a:r>
              <a:rPr lang="en-US" sz="1500" dirty="0">
                <a:solidFill>
                  <a:srgbClr val="A1A1AA"/>
                </a:solidFill>
                <a:latin typeface="Segoe UI" pitchFamily="34" charset="0"/>
                <a:ea typeface="Segoe UI" pitchFamily="34" charset="-122"/>
                <a:cs typeface="Segoe UI" pitchFamily="34" charset="-120"/>
              </a:rPr>
              <a:t>Per-source crawl progress and history, driven by the tracked CrawlRun counters.</a:t>
            </a:r>
            <a:endParaRPr lang="en-US" sz="1500" dirty="0"/>
          </a:p>
        </p:txBody>
      </p:sp>
      <p:sp>
        <p:nvSpPr>
          <p:cNvPr id="7" name="Shape 5"/>
          <p:cNvSpPr/>
          <p:nvPr/>
        </p:nvSpPr>
        <p:spPr>
          <a:xfrm>
            <a:off x="6583680" y="1965960"/>
            <a:ext cx="4800600" cy="4206240"/>
          </a:xfrm>
          <a:prstGeom prst="roundRect">
            <a:avLst>
              <a:gd name="adj" fmla="val 1739"/>
            </a:avLst>
          </a:prstGeom>
          <a:solidFill>
            <a:srgbClr val="161618"/>
          </a:solidFill>
          <a:ln w="12700">
            <a:solidFill>
              <a:srgbClr val="27272A"/>
            </a:solidFill>
            <a:prstDash val="solid"/>
          </a:ln>
        </p:spPr>
      </p:sp>
      <p:pic>
        <p:nvPicPr>
          <p:cNvPr id="8" name="Image 0" descr="C:/Users/muham/AppData/Local/Temp/claude/c--onramp-scrap/78420e53-9e48-4fd5-8eb6-3c8ac837246f/scratchpad/shots/redesign-05b-dashboard-live.png">    </p:cNvPr>
          <p:cNvPicPr>
            <a:picLocks noChangeAspect="1"/>
          </p:cNvPicPr>
          <p:nvPr/>
        </p:nvPicPr>
        <p:blipFill>
          <a:blip r:embed="rId1"/>
          <a:srcRect l="0" r="0" t="0" b="0"/>
          <a:stretch/>
        </p:blipFill>
        <p:spPr>
          <a:xfrm>
            <a:off x="6675120" y="2057400"/>
            <a:ext cx="4617720" cy="4023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13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RELIABILITY</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Fault tolerance</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Retries: every job retries 5× with exponential backoff (2s → 32s); terminal failures land in the DLQ.</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Worker death: a killed worker’s in-flight jobs are detected as stalled (~30s) and re-run by a survivor.</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Fleet-wide politeness: the per-domain rate limit and origin-pushback cooldowns live in Redis — adding workers never hammers a site harder.</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Stuck-run safety net: the scheduler force-finalizes any run silent for 30+ minutes.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14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RESULTS</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Horizontal scaling (measured)</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2148840"/>
          <a:ext cx="10545775" cy="914400"/>
        </p:xfrm>
        <a:graphic>
          <a:graphicData uri="http://schemas.openxmlformats.org/drawingml/2006/table">
            <a:tbl>
              <a:tblPr/>
              <a:tblGrid>
                <a:gridCol w="2636444"/>
                <a:gridCol w="2636444"/>
                <a:gridCol w="2636444"/>
                <a:gridCol w="2636444"/>
              </a:tblGrid>
              <a:tr h="457200">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WORKERS</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CRAWL TIME</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PAGES/SEC</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000" b="1" spc="200" kern="0" dirty="0">
                          <a:solidFill>
                            <a:srgbClr val="71717A"/>
                          </a:solidFill>
                          <a:latin typeface="Segoe UI" pitchFamily="34" charset="0"/>
                          <a:ea typeface="Segoe UI" pitchFamily="34" charset="-122"/>
                          <a:cs typeface="Segoe UI" pitchFamily="34" charset="-120"/>
                        </a:rPr>
                        <a:t>SPEEDUP</a:t>
                      </a:r>
                      <a:endParaRPr lang="en-US" sz="10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52.8 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4.05</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1.00×</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30.6 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6.99</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1.73×</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r h="457200">
                <a:tc>
                  <a:txBody>
                    <a:bodyPr/>
                    <a:lstStyle/>
                    <a:p>
                      <a:pPr indent="0" marL="0">
                        <a:buNone/>
                      </a:pPr>
                      <a:r>
                        <a:rPr lang="en-US" sz="1300" b="1" dirty="0">
                          <a:solidFill>
                            <a:srgbClr val="FAFAFA"/>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19.4 s</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11.03</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c>
                  <a:txBody>
                    <a:bodyPr/>
                    <a:lstStyle/>
                    <a:p>
                      <a:pPr indent="0" marL="0">
                        <a:buNone/>
                      </a:pPr>
                      <a:r>
                        <a:rPr lang="en-US" sz="1300" dirty="0">
                          <a:solidFill>
                            <a:srgbClr val="A1A1AA"/>
                          </a:solidFill>
                          <a:latin typeface="Segoe UI" pitchFamily="34" charset="0"/>
                          <a:ea typeface="Segoe UI" pitchFamily="34" charset="-122"/>
                          <a:cs typeface="Segoe UI" pitchFamily="34" charset="-120"/>
                        </a:rPr>
                        <a:t>2.72×</a:t>
                      </a:r>
                      <a:endParaRPr lang="en-US" sz="1300" dirty="0">
                        <a:latin typeface="Segoe UI" charset="0"/>
                        <a:ea typeface="Segoe UI" charset="0"/>
                        <a:cs typeface="Segoe UI" charset="0"/>
                      </a:endParaRPr>
                    </a:p>
                  </a:txBody>
                  <a:tcPr marL="127000" marR="127000" marT="76200" marB="76200" anchor="ctr">
                    <a:lnL w="12700" cap="flat" cmpd="sng" algn="ctr">
                      <a:solidFill>
                        <a:srgbClr val="27272A"/>
                      </a:solidFill>
                      <a:prstDash val="solid"/>
                      <a:round/>
                      <a:headEnd type="none" w="med" len="med"/>
                      <a:tailEnd type="none" w="med" len="med"/>
                    </a:lnL>
                    <a:lnR w="12700" cap="flat" cmpd="sng" algn="ctr">
                      <a:solidFill>
                        <a:srgbClr val="27272A"/>
                      </a:solidFill>
                      <a:prstDash val="solid"/>
                      <a:round/>
                      <a:headEnd type="none" w="med" len="med"/>
                      <a:tailEnd type="none" w="med" len="med"/>
                    </a:lnR>
                    <a:lnT w="12700" cap="flat" cmpd="sng" algn="ctr">
                      <a:solidFill>
                        <a:srgbClr val="27272A"/>
                      </a:solidFill>
                      <a:prstDash val="solid"/>
                      <a:round/>
                      <a:headEnd type="none" w="med" len="med"/>
                      <a:tailEnd type="none" w="med" len="med"/>
                    </a:lnT>
                    <a:lnB w="12700" cap="flat" cmpd="sng" algn="ctr">
                      <a:solidFill>
                        <a:srgbClr val="27272A"/>
                      </a:solidFill>
                      <a:prstDash val="solid"/>
                      <a:round/>
                      <a:headEnd type="none" w="med" len="med"/>
                      <a:tailEnd type="none" w="med" len="med"/>
                    </a:lnB>
                    <a:solidFill>
                      <a:srgbClr val="0A0A0B"/>
                    </a:solidFill>
                  </a:tcPr>
                </a:tc>
              </a:tr>
            </a:tbl>
          </a:graphicData>
        </a:graphic>
      </p:graphicFrame>
      <p:sp>
        <p:nvSpPr>
          <p:cNvPr id="7" name="Text 4"/>
          <p:cNvSpPr/>
          <p:nvPr/>
        </p:nvSpPr>
        <p:spPr>
          <a:xfrm>
            <a:off x="822960" y="4251960"/>
            <a:ext cx="10241280" cy="1097280"/>
          </a:xfrm>
          <a:prstGeom prst="rect">
            <a:avLst/>
          </a:prstGeom>
          <a:noFill/>
          <a:ln/>
        </p:spPr>
        <p:txBody>
          <a:bodyPr wrap="square" rtlCol="0" anchor="ctr"/>
          <a:lstStyle/>
          <a:p>
            <a:pPr indent="0" marL="0">
              <a:lnSpc>
                <a:spcPct val="135000"/>
              </a:lnSpc>
              <a:buNone/>
            </a:pPr>
            <a:r>
              <a:rPr lang="en-US" sz="1300" dirty="0">
                <a:solidFill>
                  <a:srgbClr val="A1A1AA"/>
                </a:solidFill>
                <a:latin typeface="Segoe UI" pitchFamily="34" charset="0"/>
                <a:ea typeface="Segoe UI" pitchFamily="34" charset="-122"/>
                <a:cs typeface="Segoe UI" pitchFamily="34" charset="-120"/>
              </a:rPr>
              <a:t>214-page crawl, rate cap raised so the queue — not politeness — is the bottleneck. Sublinear because every worker updates one hot CrawlRun counter row.</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15 / 17</a:t>
            </a:r>
            <a:endParaRPr lang="en-US" sz="900" dirty="0"/>
          </a:p>
        </p:txBody>
      </p:sp>
      <p:sp>
        <p:nvSpPr>
          <p:cNvPr id="4" name="Text 2"/>
          <p:cNvSpPr/>
          <p:nvPr/>
        </p:nvSpPr>
        <p:spPr>
          <a:xfrm>
            <a:off x="822960" y="1005840"/>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CHAOS ENGINEERING</a:t>
            </a:r>
            <a:endParaRPr lang="en-US" sz="1200" dirty="0"/>
          </a:p>
        </p:txBody>
      </p:sp>
      <p:sp>
        <p:nvSpPr>
          <p:cNvPr id="5" name="Text 3"/>
          <p:cNvSpPr/>
          <p:nvPr/>
        </p:nvSpPr>
        <p:spPr>
          <a:xfrm>
            <a:off x="822960" y="1828800"/>
            <a:ext cx="10545775" cy="1737360"/>
          </a:xfrm>
          <a:prstGeom prst="rect">
            <a:avLst/>
          </a:prstGeom>
          <a:noFill/>
          <a:ln/>
        </p:spPr>
        <p:txBody>
          <a:bodyPr wrap="square" rtlCol="0" anchor="ctr"/>
          <a:lstStyle/>
          <a:p>
            <a:pPr indent="0" marL="0">
              <a:lnSpc>
                <a:spcPct val="105000"/>
              </a:lnSpc>
              <a:buNone/>
            </a:pPr>
            <a:r>
              <a:rPr lang="en-US" sz="4000" b="1" dirty="0">
                <a:solidFill>
                  <a:srgbClr val="FAFAFA"/>
                </a:solidFill>
                <a:latin typeface="Segoe UI" pitchFamily="34" charset="0"/>
                <a:ea typeface="Segoe UI" pitchFamily="34" charset="-122"/>
                <a:cs typeface="Segoe UI" pitchFamily="34" charset="-120"/>
              </a:rPr>
              <a:t>The chaos test found a real bug —</a:t>
            </a:r>
            <a:endParaRPr lang="en-US" sz="4000" dirty="0"/>
          </a:p>
          <a:p>
            <a:pPr indent="0" marL="0">
              <a:lnSpc>
                <a:spcPct val="105000"/>
              </a:lnSpc>
              <a:buNone/>
            </a:pPr>
            <a:r>
              <a:rPr lang="en-US" sz="4000" b="1" dirty="0">
                <a:solidFill>
                  <a:srgbClr val="FAFAFA"/>
                </a:solidFill>
                <a:latin typeface="Segoe UI" pitchFamily="34" charset="0"/>
                <a:ea typeface="Segoe UI" pitchFamily="34" charset="-122"/>
                <a:cs typeface="Segoe UI" pitchFamily="34" charset="-120"/>
              </a:rPr>
              <a:t>and proved the fix.</a:t>
            </a:r>
            <a:endParaRPr lang="en-US" sz="4000" dirty="0"/>
          </a:p>
        </p:txBody>
      </p:sp>
      <p:sp>
        <p:nvSpPr>
          <p:cNvPr id="6" name="Text 4"/>
          <p:cNvSpPr/>
          <p:nvPr/>
        </p:nvSpPr>
        <p:spPr>
          <a:xfrm>
            <a:off x="822960" y="3840480"/>
            <a:ext cx="10241280" cy="1828800"/>
          </a:xfrm>
          <a:prstGeom prst="rect">
            <a:avLst/>
          </a:prstGeom>
          <a:noFill/>
          <a:ln/>
        </p:spPr>
        <p:txBody>
          <a:bodyPr wrap="square" rtlCol="0" anchor="ctr"/>
          <a:lstStyle/>
          <a:p>
            <a:pPr indent="0" marL="0">
              <a:lnSpc>
                <a:spcPct val="140000"/>
              </a:lnSpc>
              <a:buNone/>
            </a:pPr>
            <a:r>
              <a:rPr lang="en-US" sz="1500" dirty="0">
                <a:solidFill>
                  <a:srgbClr val="A1A1AA"/>
                </a:solidFill>
                <a:latin typeface="Segoe UI" pitchFamily="34" charset="0"/>
                <a:ea typeface="Segoe UI" pitchFamily="34" charset="-122"/>
                <a:cs typeface="Segoe UI" pitchFamily="34" charset="-120"/>
              </a:rPr>
              <a:t>Before: SIGKILL 1 of 4 workers mid-crawl → run stuck at 213/214, one URL orphaned between reserve and enqueue. Fix: split “seen” (counted) from “enqueued” (job confirmed) so a retry re-creates the lost job; reconcile the queued counter from Redis. After (rebuilt image): 214/214, settled == queued, zero lost jobs — verified end-to-end.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822960" y="256032"/>
            <a:ext cx="5486400" cy="274320"/>
          </a:xfrm>
          <a:prstGeom prst="rect">
            <a:avLst/>
          </a:prstGeom>
          <a:noFill/>
          <a:ln/>
        </p:spPr>
        <p:txBody>
          <a:bodyPr wrap="square" rtlCol="0" anchor="ctr"/>
          <a:lstStyle/>
          <a:p>
            <a:pPr indent="0" marL="0">
              <a:buNone/>
            </a:pPr>
            <a:r>
              <a:rPr lang="en-US" sz="1000" b="1" dirty="0">
                <a:solidFill>
                  <a:srgbClr val="71717A"/>
                </a:solidFill>
                <a:latin typeface="Segoe UI" pitchFamily="34" charset="0"/>
                <a:ea typeface="Segoe UI" pitchFamily="34" charset="-122"/>
                <a:cs typeface="Segoe UI" pitchFamily="34" charset="-120"/>
              </a:rPr>
              <a:t>Distributed RAG Scraper</a:t>
            </a:r>
            <a:endParaRPr lang="en-US" sz="1000" dirty="0"/>
          </a:p>
        </p:txBody>
      </p:sp>
      <p:sp>
        <p:nvSpPr>
          <p:cNvPr id="3" name="Text 1"/>
          <p:cNvSpPr/>
          <p:nvPr/>
        </p:nvSpPr>
        <p:spPr>
          <a:xfrm>
            <a:off x="9997135" y="6355080"/>
            <a:ext cx="1371600" cy="274320"/>
          </a:xfrm>
          <a:prstGeom prst="rect">
            <a:avLst/>
          </a:prstGeom>
          <a:noFill/>
          <a:ln/>
        </p:spPr>
        <p:txBody>
          <a:bodyPr wrap="square" rtlCol="0" anchor="ctr"/>
          <a:lstStyle/>
          <a:p>
            <a:pPr algn="r" indent="0" marL="0">
              <a:buNone/>
            </a:pPr>
            <a:r>
              <a:rPr lang="en-US" sz="900" dirty="0">
                <a:solidFill>
                  <a:srgbClr val="71717A"/>
                </a:solidFill>
                <a:latin typeface="Segoe UI" pitchFamily="34" charset="0"/>
                <a:ea typeface="Segoe UI" pitchFamily="34" charset="-122"/>
                <a:cs typeface="Segoe UI" pitchFamily="34" charset="-120"/>
              </a:rPr>
              <a:t>16 / 17</a:t>
            </a:r>
            <a:endParaRPr lang="en-US" sz="900" dirty="0"/>
          </a:p>
        </p:txBody>
      </p:sp>
      <p:sp>
        <p:nvSpPr>
          <p:cNvPr id="4" name="Text 2"/>
          <p:cNvSpPr/>
          <p:nvPr/>
        </p:nvSpPr>
        <p:spPr>
          <a:xfrm>
            <a:off x="822960" y="658368"/>
            <a:ext cx="10545775" cy="320040"/>
          </a:xfrm>
          <a:prstGeom prst="rect">
            <a:avLst/>
          </a:prstGeom>
          <a:noFill/>
          <a:ln/>
        </p:spPr>
        <p:txBody>
          <a:bodyPr wrap="square" rtlCol="0" anchor="ctr"/>
          <a:lstStyle/>
          <a:p>
            <a:pPr indent="0" marL="0">
              <a:buNone/>
            </a:pPr>
            <a:r>
              <a:rPr lang="en-US" sz="1200" b="1" spc="300" kern="0" dirty="0">
                <a:solidFill>
                  <a:srgbClr val="FFFFFF"/>
                </a:solidFill>
                <a:latin typeface="Segoe UI" pitchFamily="34" charset="0"/>
                <a:ea typeface="Segoe UI" pitchFamily="34" charset="-122"/>
                <a:cs typeface="Segoe UI" pitchFamily="34" charset="-120"/>
              </a:rPr>
              <a:t>HONESTY</a:t>
            </a:r>
            <a:endParaRPr lang="en-US" sz="1200" dirty="0"/>
          </a:p>
        </p:txBody>
      </p:sp>
      <p:sp>
        <p:nvSpPr>
          <p:cNvPr id="5" name="Text 3"/>
          <p:cNvSpPr/>
          <p:nvPr/>
        </p:nvSpPr>
        <p:spPr>
          <a:xfrm>
            <a:off x="822960" y="960120"/>
            <a:ext cx="10545775" cy="1005840"/>
          </a:xfrm>
          <a:prstGeom prst="rect">
            <a:avLst/>
          </a:prstGeom>
          <a:noFill/>
          <a:ln/>
        </p:spPr>
        <p:txBody>
          <a:bodyPr wrap="square" rtlCol="0" anchor="ctr"/>
          <a:lstStyle/>
          <a:p>
            <a:pPr indent="0" marL="0">
              <a:lnSpc>
                <a:spcPct val="102000"/>
              </a:lnSpc>
              <a:buNone/>
            </a:pPr>
            <a:r>
              <a:rPr lang="en-US" sz="3000" b="1" dirty="0">
                <a:solidFill>
                  <a:srgbClr val="FAFAFA"/>
                </a:solidFill>
                <a:latin typeface="Segoe UI" pitchFamily="34" charset="0"/>
                <a:ea typeface="Segoe UI" pitchFamily="34" charset="-122"/>
                <a:cs typeface="Segoe UI" pitchFamily="34" charset="-120"/>
              </a:rPr>
              <a:t>Known limitations</a:t>
            </a:r>
            <a:endParaRPr lang="en-US" sz="3000" dirty="0"/>
          </a:p>
        </p:txBody>
      </p:sp>
      <p:sp>
        <p:nvSpPr>
          <p:cNvPr id="6" name="Text 4"/>
          <p:cNvSpPr/>
          <p:nvPr/>
        </p:nvSpPr>
        <p:spPr>
          <a:xfrm>
            <a:off x="822960" y="2103120"/>
            <a:ext cx="10424160" cy="402336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Compound questions: single-shot top-K retrieval can starve one half of a two-part question — the stronger match crowds out the other.</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Citations prove a source was retrieved, not that the model characterized it correctly — it can misdescribe a real cited source.</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RAG answers are single-turn (no conversation memory); LLM latency is variable.</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Documented, reproduced, and each with a considered fix — see docs/limitations.md.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731520" y="1371600"/>
            <a:ext cx="10728655" cy="1463040"/>
          </a:xfrm>
          <a:prstGeom prst="rect">
            <a:avLst/>
          </a:prstGeom>
          <a:noFill/>
          <a:ln/>
        </p:spPr>
        <p:txBody>
          <a:bodyPr wrap="square" rtlCol="0" anchor="ctr"/>
          <a:lstStyle/>
          <a:p>
            <a:pPr algn="ctr" indent="0" marL="0">
              <a:lnSpc>
                <a:spcPct val="105000"/>
              </a:lnSpc>
              <a:buNone/>
            </a:pPr>
            <a:r>
              <a:rPr lang="en-US" sz="3800" b="1" dirty="0">
                <a:solidFill>
                  <a:srgbClr val="FAFAFA"/>
                </a:solidFill>
                <a:latin typeface="Segoe UI" pitchFamily="34" charset="0"/>
                <a:ea typeface="Segoe UI" pitchFamily="34" charset="-122"/>
                <a:cs typeface="Segoe UI" pitchFamily="34" charset="-120"/>
              </a:rPr>
              <a:t>Distributed, fault-tolerant,</a:t>
            </a:r>
            <a:endParaRPr lang="en-US" sz="3800" dirty="0"/>
          </a:p>
          <a:p>
            <a:pPr algn="ctr" indent="0" marL="0">
              <a:lnSpc>
                <a:spcPct val="105000"/>
              </a:lnSpc>
              <a:buNone/>
            </a:pPr>
            <a:r>
              <a:rPr lang="en-US" sz="3800" b="1" dirty="0">
                <a:solidFill>
                  <a:srgbClr val="FAFAFA"/>
                </a:solidFill>
                <a:latin typeface="Segoe UI" pitchFamily="34" charset="0"/>
                <a:ea typeface="Segoe UI" pitchFamily="34" charset="-122"/>
                <a:cs typeface="Segoe UI" pitchFamily="34" charset="-120"/>
              </a:rPr>
              <a:t>and honest about its limits.</a:t>
            </a:r>
            <a:endParaRPr lang="en-US" sz="3800" dirty="0"/>
          </a:p>
        </p:txBody>
      </p:sp>
      <p:sp>
        <p:nvSpPr>
          <p:cNvPr id="3" name="Text 1"/>
          <p:cNvSpPr/>
          <p:nvPr/>
        </p:nvSpPr>
        <p:spPr>
          <a:xfrm>
            <a:off x="2560320" y="3200400"/>
            <a:ext cx="7040880" cy="2011680"/>
          </a:xfrm>
          <a:prstGeom prst="rect">
            <a:avLst/>
          </a:prstGeom>
          <a:noFill/>
          <a:ln/>
        </p:spPr>
        <p:txBody>
          <a:bodyPr wrap="square" rtlCol="0" anchor="ctr"/>
          <a:lstStyle/>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Distribution that’s real: shared-nothing workers, Redis-coordinated, chaos-verified.</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Content integrity: full version history, content-hash dedup, no silent overwrites.</a:t>
            </a:r>
            <a:endParaRPr lang="en-US" sz="1600" dirty="0"/>
          </a:p>
          <a:p>
            <a:pPr marL="228600" indent="-228600">
              <a:lnSpc>
                <a:spcPct val="125000"/>
              </a:lnSpc>
              <a:spcAft>
                <a:spcPts val="1000"/>
              </a:spcAft>
              <a:buSzPct val="100000"/>
              <a:buChar char="•"/>
            </a:pPr>
            <a:r>
              <a:rPr lang="en-US" sz="1600" dirty="0">
                <a:solidFill>
                  <a:srgbClr val="A1A1AA"/>
                </a:solidFill>
                <a:latin typeface="Segoe UI" pitchFamily="34" charset="0"/>
                <a:ea typeface="Segoe UI" pitchFamily="34" charset="-122"/>
                <a:cs typeface="Segoe UI" pitchFamily="34" charset="-120"/>
              </a:rPr>
              <a:t>Grounded answers: hybrid retrieval + citation-forced RAG that can’t fabricate sources.</a:t>
            </a:r>
            <a:endParaRPr lang="en-US" sz="1600" dirty="0"/>
          </a:p>
        </p:txBody>
      </p:sp>
      <p:sp>
        <p:nvSpPr>
          <p:cNvPr id="4" name="Text 2"/>
          <p:cNvSpPr/>
          <p:nvPr/>
        </p:nvSpPr>
        <p:spPr>
          <a:xfrm>
            <a:off x="457200" y="5760720"/>
            <a:ext cx="11277295" cy="365760"/>
          </a:xfrm>
          <a:prstGeom prst="rect">
            <a:avLst/>
          </a:prstGeom>
          <a:noFill/>
          <a:ln/>
        </p:spPr>
        <p:txBody>
          <a:bodyPr wrap="square" rtlCol="0" anchor="ctr"/>
          <a:lstStyle/>
          <a:p>
            <a:pPr algn="ctr" indent="0" marL="0">
              <a:buNone/>
            </a:pPr>
            <a:r>
              <a:rPr lang="en-US" sz="1200" b="1" spc="300" kern="0" dirty="0">
                <a:solidFill>
                  <a:srgbClr val="71717A"/>
                </a:solidFill>
                <a:latin typeface="Segoe UI" pitchFamily="34" charset="0"/>
                <a:ea typeface="Segoe UI" pitchFamily="34" charset="-122"/>
                <a:cs typeface="Segoe UI" pitchFamily="34" charset="-120"/>
              </a:rPr>
              <a:t>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RAG-Based Web Scraper</dc:title>
  <dc:subject>PptxGenJS Presentation</dc:subject>
  <dc:creator>Distributed RAG Scraper</dc:creator>
  <cp:lastModifiedBy>Distributed RAG Scraper</cp:lastModifiedBy>
  <cp:revision>1</cp:revision>
  <dcterms:created xsi:type="dcterms:W3CDTF">2026-07-24T23:39:09Z</dcterms:created>
  <dcterms:modified xsi:type="dcterms:W3CDTF">2026-07-24T23:39:09Z</dcterms:modified>
</cp:coreProperties>
</file>